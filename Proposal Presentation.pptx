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Canva Sans Bold" charset="1" panose="020B0803030501040103"/>
      <p:regular r:id="rId17"/>
    </p:embeddedFont>
    <p:embeddedFont>
      <p:font typeface="Canva Sans" charset="1" panose="020B0503030501040103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166" r="0" b="-8316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895350"/>
            <a:ext cx="13115248" cy="2520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78"/>
              </a:lnSpc>
            </a:pPr>
            <a:r>
              <a:rPr lang="en-US" sz="7270" b="true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Bank </a:t>
            </a:r>
            <a:r>
              <a:rPr lang="en-US" b="true" sz="7270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Account Management System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788180" y="4675930"/>
            <a:ext cx="8711641" cy="2316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85"/>
              </a:lnSpc>
            </a:pPr>
            <a:r>
              <a:rPr lang="en-US" b="true" sz="4418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Project</a:t>
            </a:r>
            <a:r>
              <a:rPr lang="en-US" b="true" sz="4418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 Proposal Presentation</a:t>
            </a:r>
          </a:p>
          <a:p>
            <a:pPr algn="ctr">
              <a:lnSpc>
                <a:spcPts val="6185"/>
              </a:lnSpc>
            </a:pPr>
          </a:p>
          <a:p>
            <a:pPr algn="ctr">
              <a:lnSpc>
                <a:spcPts val="6185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7464184"/>
            <a:ext cx="16230600" cy="1380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93"/>
              </a:lnSpc>
            </a:pPr>
            <a:r>
              <a:rPr lang="en-US" b="true" sz="2637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Presented by:</a:t>
            </a:r>
          </a:p>
          <a:p>
            <a:pPr algn="just">
              <a:lnSpc>
                <a:spcPts val="3693"/>
              </a:lnSpc>
            </a:pPr>
            <a:r>
              <a:rPr lang="en-US" sz="2637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Canva Sans"/>
                <a:ea typeface="Canva Sans"/>
                <a:cs typeface="Canva Sans"/>
                <a:sym typeface="Canva Sans"/>
              </a:rPr>
              <a:t>MD Hasan Sojib</a:t>
            </a:r>
          </a:p>
          <a:p>
            <a:pPr algn="just">
              <a:lnSpc>
                <a:spcPts val="3693"/>
              </a:lnSpc>
              <a:spcBef>
                <a:spcPct val="0"/>
              </a:spcBef>
            </a:pPr>
            <a:r>
              <a:rPr lang="en-US" sz="2637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Canva Sans"/>
                <a:ea typeface="Canva Sans"/>
                <a:cs typeface="Canva Sans"/>
                <a:sym typeface="Canva Sans"/>
              </a:rPr>
              <a:t>Department of CSE, Uttara University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166" r="0" b="-831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27582" y="554124"/>
            <a:ext cx="16863452" cy="9132760"/>
            <a:chOff x="0" y="0"/>
            <a:chExt cx="4441444" cy="240525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41444" cy="2405253"/>
            </a:xfrm>
            <a:custGeom>
              <a:avLst/>
              <a:gdLst/>
              <a:ahLst/>
              <a:cxnLst/>
              <a:rect r="r" b="b" t="t" l="l"/>
              <a:pathLst>
                <a:path h="2405253" w="4441444">
                  <a:moveTo>
                    <a:pt x="4441444" y="17446"/>
                  </a:moveTo>
                  <a:lnTo>
                    <a:pt x="4441444" y="2387807"/>
                  </a:lnTo>
                  <a:cubicBezTo>
                    <a:pt x="4441444" y="2392434"/>
                    <a:pt x="4439606" y="2396872"/>
                    <a:pt x="4436334" y="2400143"/>
                  </a:cubicBezTo>
                  <a:cubicBezTo>
                    <a:pt x="4433063" y="2403415"/>
                    <a:pt x="4428625" y="2405253"/>
                    <a:pt x="4423999" y="2405253"/>
                  </a:cubicBezTo>
                  <a:lnTo>
                    <a:pt x="17446" y="2405253"/>
                  </a:lnTo>
                  <a:cubicBezTo>
                    <a:pt x="12819" y="2405253"/>
                    <a:pt x="8381" y="2403415"/>
                    <a:pt x="5110" y="2400143"/>
                  </a:cubicBezTo>
                  <a:cubicBezTo>
                    <a:pt x="1838" y="2396872"/>
                    <a:pt x="0" y="2392434"/>
                    <a:pt x="0" y="2387807"/>
                  </a:cubicBezTo>
                  <a:lnTo>
                    <a:pt x="0" y="17446"/>
                  </a:lnTo>
                  <a:cubicBezTo>
                    <a:pt x="0" y="12819"/>
                    <a:pt x="1838" y="8381"/>
                    <a:pt x="5110" y="5110"/>
                  </a:cubicBezTo>
                  <a:cubicBezTo>
                    <a:pt x="8381" y="1838"/>
                    <a:pt x="12819" y="0"/>
                    <a:pt x="17446" y="0"/>
                  </a:cubicBezTo>
                  <a:lnTo>
                    <a:pt x="4423999" y="0"/>
                  </a:lnTo>
                  <a:cubicBezTo>
                    <a:pt x="4428625" y="0"/>
                    <a:pt x="4433063" y="1838"/>
                    <a:pt x="4436334" y="5110"/>
                  </a:cubicBezTo>
                  <a:cubicBezTo>
                    <a:pt x="4439606" y="8381"/>
                    <a:pt x="4441444" y="12819"/>
                    <a:pt x="4441444" y="17446"/>
                  </a:cubicBezTo>
                  <a:close/>
                </a:path>
              </a:pathLst>
            </a:custGeom>
            <a:solidFill>
              <a:srgbClr val="000000">
                <a:alpha val="35686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441444" cy="24528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923925"/>
            <a:ext cx="9569471" cy="908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26"/>
              </a:lnSpc>
            </a:pPr>
            <a:r>
              <a:rPr lang="en-US" sz="5304" b="true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Project Overview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907472"/>
            <a:ext cx="11137999" cy="2410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7536" indent="-348768" lvl="1">
              <a:lnSpc>
                <a:spcPts val="4846"/>
              </a:lnSpc>
              <a:buFont typeface="Arial"/>
              <a:buChar char="•"/>
            </a:pP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A software system to manage bank accounts digitally</a:t>
            </a:r>
          </a:p>
          <a:p>
            <a:pPr algn="l" marL="697536" indent="-348768" lvl="1">
              <a:lnSpc>
                <a:spcPts val="4846"/>
              </a:lnSpc>
              <a:buFont typeface="Arial"/>
              <a:buChar char="•"/>
            </a:pP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Handles customer information and transactions</a:t>
            </a:r>
          </a:p>
          <a:p>
            <a:pPr algn="l" marL="697536" indent="-348768" lvl="1">
              <a:lnSpc>
                <a:spcPts val="4846"/>
              </a:lnSpc>
              <a:buFont typeface="Arial"/>
              <a:buChar char="•"/>
            </a:pP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Reduces manual work and human errors</a:t>
            </a:r>
          </a:p>
          <a:p>
            <a:pPr algn="l" marL="697536" indent="-348768" lvl="1">
              <a:lnSpc>
                <a:spcPts val="4846"/>
              </a:lnSpc>
              <a:buFont typeface="Arial"/>
              <a:buChar char="•"/>
            </a:pP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Designed for educational and small-scale use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176103"/>
            <a:ext cx="2365269" cy="381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9"/>
              </a:lnSpc>
              <a:spcBef>
                <a:spcPct val="0"/>
              </a:spcBef>
            </a:pPr>
            <a:r>
              <a:rPr lang="en-US" b="true" sz="2221">
                <a:solidFill>
                  <a:srgbClr val="CDFFD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Focus: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70462" y="7017545"/>
            <a:ext cx="4642842" cy="1591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3302" indent="-321651" lvl="1">
              <a:lnSpc>
                <a:spcPts val="4171"/>
              </a:lnSpc>
              <a:buFont typeface="Arial"/>
              <a:buChar char="•"/>
            </a:pPr>
            <a:r>
              <a:rPr lang="en-US" sz="2979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Account management</a:t>
            </a:r>
          </a:p>
          <a:p>
            <a:pPr algn="l" marL="643302" indent="-321651" lvl="1">
              <a:lnSpc>
                <a:spcPts val="4469"/>
              </a:lnSpc>
              <a:buFont typeface="Arial"/>
              <a:buChar char="•"/>
            </a:pPr>
            <a:r>
              <a:rPr lang="en-US" sz="2979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Transactions</a:t>
            </a:r>
          </a:p>
          <a:p>
            <a:pPr algn="l" marL="643302" indent="-321651" lvl="1">
              <a:lnSpc>
                <a:spcPts val="4171"/>
              </a:lnSpc>
              <a:spcBef>
                <a:spcPct val="0"/>
              </a:spcBef>
              <a:buFont typeface="Arial"/>
              <a:buChar char="•"/>
            </a:pPr>
            <a:r>
              <a:rPr lang="en-US" sz="2979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Balance Inquiry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166" r="0" b="-831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27582" y="554124"/>
            <a:ext cx="16863452" cy="9132760"/>
            <a:chOff x="0" y="0"/>
            <a:chExt cx="4441444" cy="240525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41444" cy="2405253"/>
            </a:xfrm>
            <a:custGeom>
              <a:avLst/>
              <a:gdLst/>
              <a:ahLst/>
              <a:cxnLst/>
              <a:rect r="r" b="b" t="t" l="l"/>
              <a:pathLst>
                <a:path h="2405253" w="4441444">
                  <a:moveTo>
                    <a:pt x="4441444" y="17446"/>
                  </a:moveTo>
                  <a:lnTo>
                    <a:pt x="4441444" y="2387807"/>
                  </a:lnTo>
                  <a:cubicBezTo>
                    <a:pt x="4441444" y="2392434"/>
                    <a:pt x="4439606" y="2396872"/>
                    <a:pt x="4436334" y="2400143"/>
                  </a:cubicBezTo>
                  <a:cubicBezTo>
                    <a:pt x="4433063" y="2403415"/>
                    <a:pt x="4428625" y="2405253"/>
                    <a:pt x="4423999" y="2405253"/>
                  </a:cubicBezTo>
                  <a:lnTo>
                    <a:pt x="17446" y="2405253"/>
                  </a:lnTo>
                  <a:cubicBezTo>
                    <a:pt x="12819" y="2405253"/>
                    <a:pt x="8381" y="2403415"/>
                    <a:pt x="5110" y="2400143"/>
                  </a:cubicBezTo>
                  <a:cubicBezTo>
                    <a:pt x="1838" y="2396872"/>
                    <a:pt x="0" y="2392434"/>
                    <a:pt x="0" y="2387807"/>
                  </a:cubicBezTo>
                  <a:lnTo>
                    <a:pt x="0" y="17446"/>
                  </a:lnTo>
                  <a:cubicBezTo>
                    <a:pt x="0" y="12819"/>
                    <a:pt x="1838" y="8381"/>
                    <a:pt x="5110" y="5110"/>
                  </a:cubicBezTo>
                  <a:cubicBezTo>
                    <a:pt x="8381" y="1838"/>
                    <a:pt x="12819" y="0"/>
                    <a:pt x="17446" y="0"/>
                  </a:cubicBezTo>
                  <a:lnTo>
                    <a:pt x="4423999" y="0"/>
                  </a:lnTo>
                  <a:cubicBezTo>
                    <a:pt x="4428625" y="0"/>
                    <a:pt x="4433063" y="1838"/>
                    <a:pt x="4436334" y="5110"/>
                  </a:cubicBezTo>
                  <a:cubicBezTo>
                    <a:pt x="4439606" y="8381"/>
                    <a:pt x="4441444" y="12819"/>
                    <a:pt x="4441444" y="17446"/>
                  </a:cubicBezTo>
                  <a:close/>
                </a:path>
              </a:pathLst>
            </a:custGeom>
            <a:solidFill>
              <a:srgbClr val="000000">
                <a:alpha val="35686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441444" cy="24528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923925"/>
            <a:ext cx="9569471" cy="908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26"/>
              </a:lnSpc>
            </a:pPr>
            <a:r>
              <a:rPr lang="en-US" sz="5304" b="true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Introduction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888422"/>
            <a:ext cx="13191083" cy="2550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7536" indent="-348768" lvl="1">
              <a:lnSpc>
                <a:spcPts val="5169"/>
              </a:lnSpc>
              <a:buFont typeface="Arial"/>
              <a:buChar char="•"/>
            </a:pP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Banking systems require accurate and secure data h</a:t>
            </a: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andling</a:t>
            </a:r>
          </a:p>
          <a:p>
            <a:pPr algn="l" marL="697536" indent="-348768" lvl="1">
              <a:lnSpc>
                <a:spcPts val="5169"/>
              </a:lnSpc>
              <a:buFont typeface="Arial"/>
              <a:buChar char="•"/>
            </a:pP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Manual banking processes are time-consuming and error-prone</a:t>
            </a:r>
          </a:p>
          <a:p>
            <a:pPr algn="l" marL="697536" indent="-348768" lvl="1">
              <a:lnSpc>
                <a:spcPts val="5169"/>
              </a:lnSpc>
              <a:buFont typeface="Arial"/>
              <a:buChar char="•"/>
            </a:pP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Digital systems improve efficiency and reliability</a:t>
            </a:r>
          </a:p>
          <a:p>
            <a:pPr algn="l" marL="697536" indent="-348768" lvl="1">
              <a:lnSpc>
                <a:spcPts val="5169"/>
              </a:lnSpc>
              <a:buFont typeface="Arial"/>
              <a:buChar char="•"/>
            </a:pP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This project simulates a basic real-world banking system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166" r="0" b="-831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27582" y="554124"/>
            <a:ext cx="16863452" cy="9132760"/>
            <a:chOff x="0" y="0"/>
            <a:chExt cx="4441444" cy="240525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41444" cy="2405253"/>
            </a:xfrm>
            <a:custGeom>
              <a:avLst/>
              <a:gdLst/>
              <a:ahLst/>
              <a:cxnLst/>
              <a:rect r="r" b="b" t="t" l="l"/>
              <a:pathLst>
                <a:path h="2405253" w="4441444">
                  <a:moveTo>
                    <a:pt x="4441444" y="17446"/>
                  </a:moveTo>
                  <a:lnTo>
                    <a:pt x="4441444" y="2387807"/>
                  </a:lnTo>
                  <a:cubicBezTo>
                    <a:pt x="4441444" y="2392434"/>
                    <a:pt x="4439606" y="2396872"/>
                    <a:pt x="4436334" y="2400143"/>
                  </a:cubicBezTo>
                  <a:cubicBezTo>
                    <a:pt x="4433063" y="2403415"/>
                    <a:pt x="4428625" y="2405253"/>
                    <a:pt x="4423999" y="2405253"/>
                  </a:cubicBezTo>
                  <a:lnTo>
                    <a:pt x="17446" y="2405253"/>
                  </a:lnTo>
                  <a:cubicBezTo>
                    <a:pt x="12819" y="2405253"/>
                    <a:pt x="8381" y="2403415"/>
                    <a:pt x="5110" y="2400143"/>
                  </a:cubicBezTo>
                  <a:cubicBezTo>
                    <a:pt x="1838" y="2396872"/>
                    <a:pt x="0" y="2392434"/>
                    <a:pt x="0" y="2387807"/>
                  </a:cubicBezTo>
                  <a:lnTo>
                    <a:pt x="0" y="17446"/>
                  </a:lnTo>
                  <a:cubicBezTo>
                    <a:pt x="0" y="12819"/>
                    <a:pt x="1838" y="8381"/>
                    <a:pt x="5110" y="5110"/>
                  </a:cubicBezTo>
                  <a:cubicBezTo>
                    <a:pt x="8381" y="1838"/>
                    <a:pt x="12819" y="0"/>
                    <a:pt x="17446" y="0"/>
                  </a:cubicBezTo>
                  <a:lnTo>
                    <a:pt x="4423999" y="0"/>
                  </a:lnTo>
                  <a:cubicBezTo>
                    <a:pt x="4428625" y="0"/>
                    <a:pt x="4433063" y="1838"/>
                    <a:pt x="4436334" y="5110"/>
                  </a:cubicBezTo>
                  <a:cubicBezTo>
                    <a:pt x="4439606" y="8381"/>
                    <a:pt x="4441444" y="12819"/>
                    <a:pt x="4441444" y="17446"/>
                  </a:cubicBezTo>
                  <a:close/>
                </a:path>
              </a:pathLst>
            </a:custGeom>
            <a:solidFill>
              <a:srgbClr val="000000">
                <a:alpha val="35686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441444" cy="24528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923925"/>
            <a:ext cx="9569471" cy="908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26"/>
              </a:lnSpc>
            </a:pPr>
            <a:r>
              <a:rPr lang="en-US" sz="5304" b="true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Motivation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878897"/>
            <a:ext cx="10761762" cy="5141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7536" indent="-348768" lvl="1">
              <a:lnSpc>
                <a:spcPts val="5169"/>
              </a:lnSpc>
              <a:buFont typeface="Arial"/>
              <a:buChar char="•"/>
            </a:pP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To reduce paperwork </a:t>
            </a: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and manual record keeping</a:t>
            </a:r>
          </a:p>
          <a:p>
            <a:pPr algn="l" marL="697536" indent="-348768" lvl="1">
              <a:lnSpc>
                <a:spcPts val="5169"/>
              </a:lnSpc>
              <a:buFont typeface="Arial"/>
              <a:buChar char="•"/>
            </a:pP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To ensure faster and accurate transactions</a:t>
            </a:r>
          </a:p>
          <a:p>
            <a:pPr algn="l" marL="697536" indent="-348768" lvl="1">
              <a:lnSpc>
                <a:spcPts val="5169"/>
              </a:lnSpc>
              <a:buFont typeface="Arial"/>
              <a:buChar char="•"/>
            </a:pP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To learn real-life application of:</a:t>
            </a:r>
          </a:p>
          <a:p>
            <a:pPr algn="l" marL="1395071" indent="-465024" lvl="2">
              <a:lnSpc>
                <a:spcPts val="5169"/>
              </a:lnSpc>
              <a:buFont typeface="Arial"/>
              <a:buChar char="⚬"/>
            </a:pP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Database management</a:t>
            </a:r>
          </a:p>
          <a:p>
            <a:pPr algn="l" marL="1395071" indent="-465024" lvl="2">
              <a:lnSpc>
                <a:spcPts val="5169"/>
              </a:lnSpc>
              <a:buFont typeface="Arial"/>
              <a:buChar char="⚬"/>
            </a:pP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User authentication</a:t>
            </a:r>
          </a:p>
          <a:p>
            <a:pPr algn="l" marL="1395071" indent="-465024" lvl="2">
              <a:lnSpc>
                <a:spcPts val="5169"/>
              </a:lnSpc>
              <a:buFont typeface="Arial"/>
              <a:buChar char="⚬"/>
            </a:pP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CRUD</a:t>
            </a: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 operations</a:t>
            </a:r>
          </a:p>
          <a:p>
            <a:pPr algn="l" marL="697536" indent="-348768" lvl="1">
              <a:lnSpc>
                <a:spcPts val="5169"/>
              </a:lnSpc>
              <a:buFont typeface="Arial"/>
              <a:buChar char="•"/>
            </a:pP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To gain practical software development experience</a:t>
            </a:r>
          </a:p>
          <a:p>
            <a:pPr algn="l">
              <a:lnSpc>
                <a:spcPts val="516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166" r="0" b="-831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27582" y="554124"/>
            <a:ext cx="16863452" cy="9132760"/>
            <a:chOff x="0" y="0"/>
            <a:chExt cx="4441444" cy="240525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41444" cy="2405253"/>
            </a:xfrm>
            <a:custGeom>
              <a:avLst/>
              <a:gdLst/>
              <a:ahLst/>
              <a:cxnLst/>
              <a:rect r="r" b="b" t="t" l="l"/>
              <a:pathLst>
                <a:path h="2405253" w="4441444">
                  <a:moveTo>
                    <a:pt x="4441444" y="17446"/>
                  </a:moveTo>
                  <a:lnTo>
                    <a:pt x="4441444" y="2387807"/>
                  </a:lnTo>
                  <a:cubicBezTo>
                    <a:pt x="4441444" y="2392434"/>
                    <a:pt x="4439606" y="2396872"/>
                    <a:pt x="4436334" y="2400143"/>
                  </a:cubicBezTo>
                  <a:cubicBezTo>
                    <a:pt x="4433063" y="2403415"/>
                    <a:pt x="4428625" y="2405253"/>
                    <a:pt x="4423999" y="2405253"/>
                  </a:cubicBezTo>
                  <a:lnTo>
                    <a:pt x="17446" y="2405253"/>
                  </a:lnTo>
                  <a:cubicBezTo>
                    <a:pt x="12819" y="2405253"/>
                    <a:pt x="8381" y="2403415"/>
                    <a:pt x="5110" y="2400143"/>
                  </a:cubicBezTo>
                  <a:cubicBezTo>
                    <a:pt x="1838" y="2396872"/>
                    <a:pt x="0" y="2392434"/>
                    <a:pt x="0" y="2387807"/>
                  </a:cubicBezTo>
                  <a:lnTo>
                    <a:pt x="0" y="17446"/>
                  </a:lnTo>
                  <a:cubicBezTo>
                    <a:pt x="0" y="12819"/>
                    <a:pt x="1838" y="8381"/>
                    <a:pt x="5110" y="5110"/>
                  </a:cubicBezTo>
                  <a:cubicBezTo>
                    <a:pt x="8381" y="1838"/>
                    <a:pt x="12819" y="0"/>
                    <a:pt x="17446" y="0"/>
                  </a:cubicBezTo>
                  <a:lnTo>
                    <a:pt x="4423999" y="0"/>
                  </a:lnTo>
                  <a:cubicBezTo>
                    <a:pt x="4428625" y="0"/>
                    <a:pt x="4433063" y="1838"/>
                    <a:pt x="4436334" y="5110"/>
                  </a:cubicBezTo>
                  <a:cubicBezTo>
                    <a:pt x="4439606" y="8381"/>
                    <a:pt x="4441444" y="12819"/>
                    <a:pt x="4441444" y="17446"/>
                  </a:cubicBezTo>
                  <a:close/>
                </a:path>
              </a:pathLst>
            </a:custGeom>
            <a:solidFill>
              <a:srgbClr val="000000">
                <a:alpha val="35686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441444" cy="24528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923925"/>
            <a:ext cx="11192137" cy="908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26"/>
              </a:lnSpc>
            </a:pPr>
            <a:r>
              <a:rPr lang="en-US" sz="5304" b="true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Related Works / Existing Features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907472"/>
            <a:ext cx="6863507" cy="6068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7536" indent="-348768" lvl="1">
              <a:lnSpc>
                <a:spcPts val="4846"/>
              </a:lnSpc>
              <a:buFont typeface="Arial"/>
              <a:buChar char="•"/>
            </a:pP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Exist</a:t>
            </a: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ing systems:</a:t>
            </a:r>
          </a:p>
          <a:p>
            <a:pPr algn="l" marL="1395071" indent="-465024" lvl="2">
              <a:lnSpc>
                <a:spcPts val="4846"/>
              </a:lnSpc>
              <a:buFont typeface="Arial"/>
              <a:buChar char="⚬"/>
            </a:pP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ATM systems</a:t>
            </a:r>
          </a:p>
          <a:p>
            <a:pPr algn="l" marL="1395071" indent="-465024" lvl="2">
              <a:lnSpc>
                <a:spcPts val="4846"/>
              </a:lnSpc>
              <a:buFont typeface="Arial"/>
              <a:buChar char="⚬"/>
            </a:pP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On</a:t>
            </a: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line banking applications</a:t>
            </a:r>
          </a:p>
          <a:p>
            <a:pPr algn="l">
              <a:lnSpc>
                <a:spcPts val="4846"/>
              </a:lnSpc>
            </a:pPr>
          </a:p>
          <a:p>
            <a:pPr algn="l" marL="697536" indent="-348768" lvl="1">
              <a:lnSpc>
                <a:spcPts val="4846"/>
              </a:lnSpc>
              <a:buFont typeface="Arial"/>
              <a:buChar char="•"/>
            </a:pP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Common features:</a:t>
            </a:r>
          </a:p>
          <a:p>
            <a:pPr algn="l" marL="1395071" indent="-465024" lvl="2">
              <a:lnSpc>
                <a:spcPts val="4846"/>
              </a:lnSpc>
              <a:buFont typeface="Arial"/>
              <a:buChar char="⚬"/>
            </a:pP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Account creation</a:t>
            </a:r>
          </a:p>
          <a:p>
            <a:pPr algn="l" marL="1395071" indent="-465024" lvl="2">
              <a:lnSpc>
                <a:spcPts val="4846"/>
              </a:lnSpc>
              <a:buFont typeface="Arial"/>
              <a:buChar char="⚬"/>
            </a:pP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Deposit</a:t>
            </a: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 and withdrawal</a:t>
            </a:r>
          </a:p>
          <a:p>
            <a:pPr algn="l" marL="1395071" indent="-465024" lvl="2">
              <a:lnSpc>
                <a:spcPts val="4846"/>
              </a:lnSpc>
              <a:buFont typeface="Arial"/>
              <a:buChar char="⚬"/>
            </a:pP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Balance inquiry</a:t>
            </a:r>
          </a:p>
          <a:p>
            <a:pPr algn="l" marL="1395071" indent="-465024" lvl="2">
              <a:lnSpc>
                <a:spcPts val="4846"/>
              </a:lnSpc>
              <a:buFont typeface="Arial"/>
              <a:buChar char="⚬"/>
            </a:pP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Transaction history</a:t>
            </a:r>
          </a:p>
          <a:p>
            <a:pPr algn="l">
              <a:lnSpc>
                <a:spcPts val="4846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166" r="0" b="-831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27582" y="554124"/>
            <a:ext cx="16863452" cy="9132760"/>
            <a:chOff x="0" y="0"/>
            <a:chExt cx="4441444" cy="240525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41444" cy="2405253"/>
            </a:xfrm>
            <a:custGeom>
              <a:avLst/>
              <a:gdLst/>
              <a:ahLst/>
              <a:cxnLst/>
              <a:rect r="r" b="b" t="t" l="l"/>
              <a:pathLst>
                <a:path h="2405253" w="4441444">
                  <a:moveTo>
                    <a:pt x="4441444" y="17446"/>
                  </a:moveTo>
                  <a:lnTo>
                    <a:pt x="4441444" y="2387807"/>
                  </a:lnTo>
                  <a:cubicBezTo>
                    <a:pt x="4441444" y="2392434"/>
                    <a:pt x="4439606" y="2396872"/>
                    <a:pt x="4436334" y="2400143"/>
                  </a:cubicBezTo>
                  <a:cubicBezTo>
                    <a:pt x="4433063" y="2403415"/>
                    <a:pt x="4428625" y="2405253"/>
                    <a:pt x="4423999" y="2405253"/>
                  </a:cubicBezTo>
                  <a:lnTo>
                    <a:pt x="17446" y="2405253"/>
                  </a:lnTo>
                  <a:cubicBezTo>
                    <a:pt x="12819" y="2405253"/>
                    <a:pt x="8381" y="2403415"/>
                    <a:pt x="5110" y="2400143"/>
                  </a:cubicBezTo>
                  <a:cubicBezTo>
                    <a:pt x="1838" y="2396872"/>
                    <a:pt x="0" y="2392434"/>
                    <a:pt x="0" y="2387807"/>
                  </a:cubicBezTo>
                  <a:lnTo>
                    <a:pt x="0" y="17446"/>
                  </a:lnTo>
                  <a:cubicBezTo>
                    <a:pt x="0" y="12819"/>
                    <a:pt x="1838" y="8381"/>
                    <a:pt x="5110" y="5110"/>
                  </a:cubicBezTo>
                  <a:cubicBezTo>
                    <a:pt x="8381" y="1838"/>
                    <a:pt x="12819" y="0"/>
                    <a:pt x="17446" y="0"/>
                  </a:cubicBezTo>
                  <a:lnTo>
                    <a:pt x="4423999" y="0"/>
                  </a:lnTo>
                  <a:cubicBezTo>
                    <a:pt x="4428625" y="0"/>
                    <a:pt x="4433063" y="1838"/>
                    <a:pt x="4436334" y="5110"/>
                  </a:cubicBezTo>
                  <a:cubicBezTo>
                    <a:pt x="4439606" y="8381"/>
                    <a:pt x="4441444" y="12819"/>
                    <a:pt x="4441444" y="17446"/>
                  </a:cubicBezTo>
                  <a:close/>
                </a:path>
              </a:pathLst>
            </a:custGeom>
            <a:solidFill>
              <a:srgbClr val="000000">
                <a:alpha val="35686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441444" cy="24528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923925"/>
            <a:ext cx="11192137" cy="908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26"/>
              </a:lnSpc>
            </a:pPr>
            <a:r>
              <a:rPr lang="en-US" sz="5304" b="true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Contribution / Difference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907472"/>
            <a:ext cx="9826377" cy="3629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7536" indent="-348768" lvl="1">
              <a:lnSpc>
                <a:spcPts val="4846"/>
              </a:lnSpc>
              <a:buFont typeface="Arial"/>
              <a:buChar char="•"/>
            </a:pP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Simple a</a:t>
            </a: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nd user-frie</a:t>
            </a: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nd</a:t>
            </a: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ly interface</a:t>
            </a:r>
          </a:p>
          <a:p>
            <a:pPr algn="l" marL="697536" indent="-348768" lvl="1">
              <a:lnSpc>
                <a:spcPts val="4846"/>
              </a:lnSpc>
              <a:buFont typeface="Arial"/>
              <a:buChar char="•"/>
            </a:pP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Role-based access (Admin &amp; User)</a:t>
            </a:r>
          </a:p>
          <a:p>
            <a:pPr algn="l" marL="697536" indent="-348768" lvl="1">
              <a:lnSpc>
                <a:spcPts val="4846"/>
              </a:lnSpc>
              <a:buFont typeface="Arial"/>
              <a:buChar char="•"/>
            </a:pP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F</a:t>
            </a: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ocused on learning and demonstration</a:t>
            </a:r>
          </a:p>
          <a:p>
            <a:pPr algn="l" marL="697536" indent="-348768" lvl="1">
              <a:lnSpc>
                <a:spcPts val="4846"/>
              </a:lnSpc>
              <a:buFont typeface="Arial"/>
              <a:buChar char="•"/>
            </a:pP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Lightw</a:t>
            </a: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eight</a:t>
            </a: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 and easy to deploy</a:t>
            </a:r>
          </a:p>
          <a:p>
            <a:pPr algn="l" marL="697536" indent="-348768" lvl="1">
              <a:lnSpc>
                <a:spcPts val="4846"/>
              </a:lnSpc>
              <a:buFont typeface="Arial"/>
              <a:buChar char="•"/>
            </a:pP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Suit</a:t>
            </a: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able for small institutions or academic use</a:t>
            </a:r>
          </a:p>
          <a:p>
            <a:pPr algn="l">
              <a:lnSpc>
                <a:spcPts val="4846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166" r="0" b="-831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27582" y="554124"/>
            <a:ext cx="16863452" cy="9132760"/>
            <a:chOff x="0" y="0"/>
            <a:chExt cx="4441444" cy="240525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41444" cy="2405253"/>
            </a:xfrm>
            <a:custGeom>
              <a:avLst/>
              <a:gdLst/>
              <a:ahLst/>
              <a:cxnLst/>
              <a:rect r="r" b="b" t="t" l="l"/>
              <a:pathLst>
                <a:path h="2405253" w="4441444">
                  <a:moveTo>
                    <a:pt x="4441444" y="17446"/>
                  </a:moveTo>
                  <a:lnTo>
                    <a:pt x="4441444" y="2387807"/>
                  </a:lnTo>
                  <a:cubicBezTo>
                    <a:pt x="4441444" y="2392434"/>
                    <a:pt x="4439606" y="2396872"/>
                    <a:pt x="4436334" y="2400143"/>
                  </a:cubicBezTo>
                  <a:cubicBezTo>
                    <a:pt x="4433063" y="2403415"/>
                    <a:pt x="4428625" y="2405253"/>
                    <a:pt x="4423999" y="2405253"/>
                  </a:cubicBezTo>
                  <a:lnTo>
                    <a:pt x="17446" y="2405253"/>
                  </a:lnTo>
                  <a:cubicBezTo>
                    <a:pt x="12819" y="2405253"/>
                    <a:pt x="8381" y="2403415"/>
                    <a:pt x="5110" y="2400143"/>
                  </a:cubicBezTo>
                  <a:cubicBezTo>
                    <a:pt x="1838" y="2396872"/>
                    <a:pt x="0" y="2392434"/>
                    <a:pt x="0" y="2387807"/>
                  </a:cubicBezTo>
                  <a:lnTo>
                    <a:pt x="0" y="17446"/>
                  </a:lnTo>
                  <a:cubicBezTo>
                    <a:pt x="0" y="12819"/>
                    <a:pt x="1838" y="8381"/>
                    <a:pt x="5110" y="5110"/>
                  </a:cubicBezTo>
                  <a:cubicBezTo>
                    <a:pt x="8381" y="1838"/>
                    <a:pt x="12819" y="0"/>
                    <a:pt x="17446" y="0"/>
                  </a:cubicBezTo>
                  <a:lnTo>
                    <a:pt x="4423999" y="0"/>
                  </a:lnTo>
                  <a:cubicBezTo>
                    <a:pt x="4428625" y="0"/>
                    <a:pt x="4433063" y="1838"/>
                    <a:pt x="4436334" y="5110"/>
                  </a:cubicBezTo>
                  <a:cubicBezTo>
                    <a:pt x="4439606" y="8381"/>
                    <a:pt x="4441444" y="12819"/>
                    <a:pt x="4441444" y="17446"/>
                  </a:cubicBezTo>
                  <a:close/>
                </a:path>
              </a:pathLst>
            </a:custGeom>
            <a:solidFill>
              <a:srgbClr val="000000">
                <a:alpha val="35686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441444" cy="24528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923925"/>
            <a:ext cx="11192137" cy="908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26"/>
              </a:lnSpc>
            </a:pPr>
            <a:r>
              <a:rPr lang="en-US" sz="5304" b="true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Methodology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524768"/>
            <a:ext cx="7141815" cy="6677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6"/>
              </a:lnSpc>
            </a:pPr>
            <a:r>
              <a:rPr lang="en-US" sz="3230" b="true">
                <a:solidFill>
                  <a:srgbClr val="CDFFD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Developme</a:t>
            </a:r>
            <a:r>
              <a:rPr lang="en-US" sz="3230" b="true">
                <a:solidFill>
                  <a:srgbClr val="CDFFD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nt Steps:</a:t>
            </a:r>
          </a:p>
          <a:p>
            <a:pPr algn="l" marL="697536" indent="-348768" lvl="1">
              <a:lnSpc>
                <a:spcPts val="4846"/>
              </a:lnSpc>
              <a:buAutoNum type="arabicPeriod" startAt="1"/>
            </a:pP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Requireme</a:t>
            </a: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nt</a:t>
            </a: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 analysis</a:t>
            </a:r>
          </a:p>
          <a:p>
            <a:pPr algn="l" marL="697536" indent="-348768" lvl="1">
              <a:lnSpc>
                <a:spcPts val="4846"/>
              </a:lnSpc>
              <a:buAutoNum type="arabicPeriod" startAt="1"/>
            </a:pP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Sy</a:t>
            </a: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stem design</a:t>
            </a:r>
          </a:p>
          <a:p>
            <a:pPr algn="l" marL="697536" indent="-348768" lvl="1">
              <a:lnSpc>
                <a:spcPts val="4846"/>
              </a:lnSpc>
              <a:buAutoNum type="arabicPeriod" startAt="1"/>
            </a:pP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Implementation</a:t>
            </a:r>
          </a:p>
          <a:p>
            <a:pPr algn="l" marL="697536" indent="-348768" lvl="1">
              <a:lnSpc>
                <a:spcPts val="4846"/>
              </a:lnSpc>
              <a:buAutoNum type="arabicPeriod" startAt="1"/>
            </a:pP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Tes</a:t>
            </a: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ing</a:t>
            </a: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 and validation</a:t>
            </a:r>
          </a:p>
          <a:p>
            <a:pPr algn="l">
              <a:lnSpc>
                <a:spcPts val="4846"/>
              </a:lnSpc>
            </a:pPr>
          </a:p>
          <a:p>
            <a:pPr algn="l">
              <a:lnSpc>
                <a:spcPts val="4846"/>
              </a:lnSpc>
            </a:pPr>
            <a:r>
              <a:rPr lang="en-US" sz="3230" b="true">
                <a:solidFill>
                  <a:srgbClr val="CDFFD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Proposed Technologies:</a:t>
            </a:r>
          </a:p>
          <a:p>
            <a:pPr algn="l" marL="697536" indent="-348768" lvl="1">
              <a:lnSpc>
                <a:spcPts val="4846"/>
              </a:lnSpc>
              <a:buAutoNum type="arabicPeriod" startAt="1"/>
            </a:pP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Frontend: React JS, Tailwind CSS</a:t>
            </a:r>
          </a:p>
          <a:p>
            <a:pPr algn="l" marL="697536" indent="-348768" lvl="1">
              <a:lnSpc>
                <a:spcPts val="4846"/>
              </a:lnSpc>
              <a:buAutoNum type="arabicPeriod" startAt="1"/>
            </a:pP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Backend: Node JS, Express JS</a:t>
            </a:r>
          </a:p>
          <a:p>
            <a:pPr algn="l" marL="697536" indent="-348768" lvl="1">
              <a:lnSpc>
                <a:spcPts val="4846"/>
              </a:lnSpc>
              <a:buAutoNum type="arabicPeriod" startAt="1"/>
            </a:pP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Database: MySQL</a:t>
            </a:r>
          </a:p>
          <a:p>
            <a:pPr algn="l">
              <a:lnSpc>
                <a:spcPts val="4846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166" r="0" b="-831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27582" y="554124"/>
            <a:ext cx="16863452" cy="9132760"/>
            <a:chOff x="0" y="0"/>
            <a:chExt cx="4441444" cy="240525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41444" cy="2405253"/>
            </a:xfrm>
            <a:custGeom>
              <a:avLst/>
              <a:gdLst/>
              <a:ahLst/>
              <a:cxnLst/>
              <a:rect r="r" b="b" t="t" l="l"/>
              <a:pathLst>
                <a:path h="2405253" w="4441444">
                  <a:moveTo>
                    <a:pt x="4441444" y="17446"/>
                  </a:moveTo>
                  <a:lnTo>
                    <a:pt x="4441444" y="2387807"/>
                  </a:lnTo>
                  <a:cubicBezTo>
                    <a:pt x="4441444" y="2392434"/>
                    <a:pt x="4439606" y="2396872"/>
                    <a:pt x="4436334" y="2400143"/>
                  </a:cubicBezTo>
                  <a:cubicBezTo>
                    <a:pt x="4433063" y="2403415"/>
                    <a:pt x="4428625" y="2405253"/>
                    <a:pt x="4423999" y="2405253"/>
                  </a:cubicBezTo>
                  <a:lnTo>
                    <a:pt x="17446" y="2405253"/>
                  </a:lnTo>
                  <a:cubicBezTo>
                    <a:pt x="12819" y="2405253"/>
                    <a:pt x="8381" y="2403415"/>
                    <a:pt x="5110" y="2400143"/>
                  </a:cubicBezTo>
                  <a:cubicBezTo>
                    <a:pt x="1838" y="2396872"/>
                    <a:pt x="0" y="2392434"/>
                    <a:pt x="0" y="2387807"/>
                  </a:cubicBezTo>
                  <a:lnTo>
                    <a:pt x="0" y="17446"/>
                  </a:lnTo>
                  <a:cubicBezTo>
                    <a:pt x="0" y="12819"/>
                    <a:pt x="1838" y="8381"/>
                    <a:pt x="5110" y="5110"/>
                  </a:cubicBezTo>
                  <a:cubicBezTo>
                    <a:pt x="8381" y="1838"/>
                    <a:pt x="12819" y="0"/>
                    <a:pt x="17446" y="0"/>
                  </a:cubicBezTo>
                  <a:lnTo>
                    <a:pt x="4423999" y="0"/>
                  </a:lnTo>
                  <a:cubicBezTo>
                    <a:pt x="4428625" y="0"/>
                    <a:pt x="4433063" y="1838"/>
                    <a:pt x="4436334" y="5110"/>
                  </a:cubicBezTo>
                  <a:cubicBezTo>
                    <a:pt x="4439606" y="8381"/>
                    <a:pt x="4441444" y="12819"/>
                    <a:pt x="4441444" y="17446"/>
                  </a:cubicBezTo>
                  <a:close/>
                </a:path>
              </a:pathLst>
            </a:custGeom>
            <a:solidFill>
              <a:srgbClr val="000000">
                <a:alpha val="35686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441444" cy="24528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923925"/>
            <a:ext cx="11192137" cy="908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26"/>
              </a:lnSpc>
            </a:pPr>
            <a:r>
              <a:rPr lang="en-US" sz="5304" b="true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Flow Diagram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524768"/>
            <a:ext cx="5610374" cy="3020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7536" indent="-348768" lvl="1">
              <a:lnSpc>
                <a:spcPts val="4846"/>
              </a:lnSpc>
              <a:buFont typeface="Arial"/>
              <a:buChar char="•"/>
            </a:pP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User logi</a:t>
            </a: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</a:p>
          <a:p>
            <a:pPr algn="l" marL="697536" indent="-348768" lvl="1">
              <a:lnSpc>
                <a:spcPts val="4846"/>
              </a:lnSpc>
              <a:buFont typeface="Arial"/>
              <a:buChar char="•"/>
            </a:pP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Selec</a:t>
            </a: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 banking operation</a:t>
            </a:r>
          </a:p>
          <a:p>
            <a:pPr algn="l" marL="697536" indent="-348768" lvl="1">
              <a:lnSpc>
                <a:spcPts val="4846"/>
              </a:lnSpc>
              <a:buFont typeface="Arial"/>
              <a:buChar char="•"/>
            </a:pP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P</a:t>
            </a: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erform </a:t>
            </a: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tr</a:t>
            </a: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ansaction</a:t>
            </a:r>
          </a:p>
          <a:p>
            <a:pPr algn="l" marL="697536" indent="-348768" lvl="1">
              <a:lnSpc>
                <a:spcPts val="4846"/>
              </a:lnSpc>
              <a:buFont typeface="Arial"/>
              <a:buChar char="•"/>
            </a:pP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U</a:t>
            </a: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pdate database</a:t>
            </a:r>
          </a:p>
          <a:p>
            <a:pPr algn="l" marL="697536" indent="-348768" lvl="1">
              <a:lnSpc>
                <a:spcPts val="4846"/>
              </a:lnSpc>
              <a:buFont typeface="Arial"/>
              <a:buChar char="•"/>
            </a:pP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Display result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856220" y="783810"/>
            <a:ext cx="4203596" cy="8719380"/>
            <a:chOff x="0" y="0"/>
            <a:chExt cx="1107120" cy="22964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07120" cy="2296462"/>
            </a:xfrm>
            <a:custGeom>
              <a:avLst/>
              <a:gdLst/>
              <a:ahLst/>
              <a:cxnLst/>
              <a:rect r="r" b="b" t="t" l="l"/>
              <a:pathLst>
                <a:path h="2296462" w="1107120">
                  <a:moveTo>
                    <a:pt x="0" y="0"/>
                  </a:moveTo>
                  <a:lnTo>
                    <a:pt x="1107120" y="0"/>
                  </a:lnTo>
                  <a:lnTo>
                    <a:pt x="1107120" y="2296462"/>
                  </a:lnTo>
                  <a:lnTo>
                    <a:pt x="0" y="2296462"/>
                  </a:lnTo>
                  <a:close/>
                </a:path>
              </a:pathLst>
            </a:custGeom>
            <a:solidFill>
              <a:srgbClr val="A6A6A6">
                <a:alpha val="74902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107120" cy="23440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9144000" y="783810"/>
            <a:ext cx="3562292" cy="8719380"/>
          </a:xfrm>
          <a:custGeom>
            <a:avLst/>
            <a:gdLst/>
            <a:ahLst/>
            <a:cxnLst/>
            <a:rect r="r" b="b" t="t" l="l"/>
            <a:pathLst>
              <a:path h="8719380" w="3562292">
                <a:moveTo>
                  <a:pt x="0" y="0"/>
                </a:moveTo>
                <a:lnTo>
                  <a:pt x="3562292" y="0"/>
                </a:lnTo>
                <a:lnTo>
                  <a:pt x="3562292" y="8719380"/>
                </a:lnTo>
                <a:lnTo>
                  <a:pt x="0" y="87193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166" r="0" b="-831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27582" y="554124"/>
            <a:ext cx="16863452" cy="9132760"/>
            <a:chOff x="0" y="0"/>
            <a:chExt cx="4441444" cy="240525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41444" cy="2405253"/>
            </a:xfrm>
            <a:custGeom>
              <a:avLst/>
              <a:gdLst/>
              <a:ahLst/>
              <a:cxnLst/>
              <a:rect r="r" b="b" t="t" l="l"/>
              <a:pathLst>
                <a:path h="2405253" w="4441444">
                  <a:moveTo>
                    <a:pt x="4441444" y="17446"/>
                  </a:moveTo>
                  <a:lnTo>
                    <a:pt x="4441444" y="2387807"/>
                  </a:lnTo>
                  <a:cubicBezTo>
                    <a:pt x="4441444" y="2392434"/>
                    <a:pt x="4439606" y="2396872"/>
                    <a:pt x="4436334" y="2400143"/>
                  </a:cubicBezTo>
                  <a:cubicBezTo>
                    <a:pt x="4433063" y="2403415"/>
                    <a:pt x="4428625" y="2405253"/>
                    <a:pt x="4423999" y="2405253"/>
                  </a:cubicBezTo>
                  <a:lnTo>
                    <a:pt x="17446" y="2405253"/>
                  </a:lnTo>
                  <a:cubicBezTo>
                    <a:pt x="12819" y="2405253"/>
                    <a:pt x="8381" y="2403415"/>
                    <a:pt x="5110" y="2400143"/>
                  </a:cubicBezTo>
                  <a:cubicBezTo>
                    <a:pt x="1838" y="2396872"/>
                    <a:pt x="0" y="2392434"/>
                    <a:pt x="0" y="2387807"/>
                  </a:cubicBezTo>
                  <a:lnTo>
                    <a:pt x="0" y="17446"/>
                  </a:lnTo>
                  <a:cubicBezTo>
                    <a:pt x="0" y="12819"/>
                    <a:pt x="1838" y="8381"/>
                    <a:pt x="5110" y="5110"/>
                  </a:cubicBezTo>
                  <a:cubicBezTo>
                    <a:pt x="8381" y="1838"/>
                    <a:pt x="12819" y="0"/>
                    <a:pt x="17446" y="0"/>
                  </a:cubicBezTo>
                  <a:lnTo>
                    <a:pt x="4423999" y="0"/>
                  </a:lnTo>
                  <a:cubicBezTo>
                    <a:pt x="4428625" y="0"/>
                    <a:pt x="4433063" y="1838"/>
                    <a:pt x="4436334" y="5110"/>
                  </a:cubicBezTo>
                  <a:cubicBezTo>
                    <a:pt x="4439606" y="8381"/>
                    <a:pt x="4441444" y="12819"/>
                    <a:pt x="4441444" y="17446"/>
                  </a:cubicBezTo>
                  <a:close/>
                </a:path>
              </a:pathLst>
            </a:custGeom>
            <a:solidFill>
              <a:srgbClr val="000000">
                <a:alpha val="35686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441444" cy="24528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624768" y="1549155"/>
            <a:ext cx="10277398" cy="4127056"/>
            <a:chOff x="0" y="0"/>
            <a:chExt cx="2706804" cy="108696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06805" cy="1086961"/>
            </a:xfrm>
            <a:custGeom>
              <a:avLst/>
              <a:gdLst/>
              <a:ahLst/>
              <a:cxnLst/>
              <a:rect r="r" b="b" t="t" l="l"/>
              <a:pathLst>
                <a:path h="1086961" w="2706805">
                  <a:moveTo>
                    <a:pt x="0" y="0"/>
                  </a:moveTo>
                  <a:lnTo>
                    <a:pt x="2706805" y="0"/>
                  </a:lnTo>
                  <a:lnTo>
                    <a:pt x="2706805" y="1086961"/>
                  </a:lnTo>
                  <a:lnTo>
                    <a:pt x="0" y="1086961"/>
                  </a:lnTo>
                  <a:close/>
                </a:path>
              </a:pathLst>
            </a:custGeom>
            <a:solidFill>
              <a:srgbClr val="D9D9D9">
                <a:alpha val="62745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706804" cy="11345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7022573" y="1832194"/>
            <a:ext cx="9502692" cy="3462127"/>
          </a:xfrm>
          <a:custGeom>
            <a:avLst/>
            <a:gdLst/>
            <a:ahLst/>
            <a:cxnLst/>
            <a:rect r="r" b="b" t="t" l="l"/>
            <a:pathLst>
              <a:path h="3462127" w="9502692">
                <a:moveTo>
                  <a:pt x="0" y="0"/>
                </a:moveTo>
                <a:lnTo>
                  <a:pt x="9502691" y="0"/>
                </a:lnTo>
                <a:lnTo>
                  <a:pt x="9502691" y="3462127"/>
                </a:lnTo>
                <a:lnTo>
                  <a:pt x="0" y="34621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923925"/>
            <a:ext cx="11192137" cy="908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26"/>
              </a:lnSpc>
            </a:pPr>
            <a:r>
              <a:rPr lang="en-US" sz="5304" b="true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ER Diagram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2524768"/>
            <a:ext cx="6589068" cy="5458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6"/>
              </a:lnSpc>
            </a:pP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Entities:</a:t>
            </a:r>
          </a:p>
          <a:p>
            <a:pPr algn="l" marL="697536" indent="-348768" lvl="1">
              <a:lnSpc>
                <a:spcPts val="4846"/>
              </a:lnSpc>
              <a:buFont typeface="Arial"/>
              <a:buChar char="•"/>
            </a:pP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User</a:t>
            </a:r>
          </a:p>
          <a:p>
            <a:pPr algn="l" marL="697536" indent="-348768" lvl="1">
              <a:lnSpc>
                <a:spcPts val="4846"/>
              </a:lnSpc>
              <a:buFont typeface="Arial"/>
              <a:buChar char="•"/>
            </a:pP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ccoun</a:t>
            </a: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</a:p>
          <a:p>
            <a:pPr algn="l" marL="697536" indent="-348768" lvl="1">
              <a:lnSpc>
                <a:spcPts val="4846"/>
              </a:lnSpc>
              <a:buFont typeface="Arial"/>
              <a:buChar char="•"/>
            </a:pP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Tr</a:t>
            </a: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ansaction</a:t>
            </a:r>
          </a:p>
          <a:p>
            <a:pPr algn="l">
              <a:lnSpc>
                <a:spcPts val="4846"/>
              </a:lnSpc>
            </a:pPr>
          </a:p>
          <a:p>
            <a:pPr algn="l">
              <a:lnSpc>
                <a:spcPts val="4846"/>
              </a:lnSpc>
            </a:pP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Relationships:</a:t>
            </a:r>
          </a:p>
          <a:p>
            <a:pPr algn="l" marL="697536" indent="-348768" lvl="1">
              <a:lnSpc>
                <a:spcPts val="4846"/>
              </a:lnSpc>
              <a:buFont typeface="Arial"/>
              <a:buChar char="•"/>
            </a:pP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User ow</a:t>
            </a: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ns Account</a:t>
            </a:r>
          </a:p>
          <a:p>
            <a:pPr algn="l" marL="697536" indent="-348768" lvl="1">
              <a:lnSpc>
                <a:spcPts val="4846"/>
              </a:lnSpc>
              <a:buFont typeface="Arial"/>
              <a:buChar char="•"/>
            </a:pP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Accoun</a:t>
            </a: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t records Transactions</a:t>
            </a:r>
          </a:p>
          <a:p>
            <a:pPr algn="l">
              <a:lnSpc>
                <a:spcPts val="4846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166" r="0" b="-831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27582" y="554124"/>
            <a:ext cx="16863452" cy="9132760"/>
            <a:chOff x="0" y="0"/>
            <a:chExt cx="4441444" cy="240525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41444" cy="2405253"/>
            </a:xfrm>
            <a:custGeom>
              <a:avLst/>
              <a:gdLst/>
              <a:ahLst/>
              <a:cxnLst/>
              <a:rect r="r" b="b" t="t" l="l"/>
              <a:pathLst>
                <a:path h="2405253" w="4441444">
                  <a:moveTo>
                    <a:pt x="4441444" y="17446"/>
                  </a:moveTo>
                  <a:lnTo>
                    <a:pt x="4441444" y="2387807"/>
                  </a:lnTo>
                  <a:cubicBezTo>
                    <a:pt x="4441444" y="2392434"/>
                    <a:pt x="4439606" y="2396872"/>
                    <a:pt x="4436334" y="2400143"/>
                  </a:cubicBezTo>
                  <a:cubicBezTo>
                    <a:pt x="4433063" y="2403415"/>
                    <a:pt x="4428625" y="2405253"/>
                    <a:pt x="4423999" y="2405253"/>
                  </a:cubicBezTo>
                  <a:lnTo>
                    <a:pt x="17446" y="2405253"/>
                  </a:lnTo>
                  <a:cubicBezTo>
                    <a:pt x="12819" y="2405253"/>
                    <a:pt x="8381" y="2403415"/>
                    <a:pt x="5110" y="2400143"/>
                  </a:cubicBezTo>
                  <a:cubicBezTo>
                    <a:pt x="1838" y="2396872"/>
                    <a:pt x="0" y="2392434"/>
                    <a:pt x="0" y="2387807"/>
                  </a:cubicBezTo>
                  <a:lnTo>
                    <a:pt x="0" y="17446"/>
                  </a:lnTo>
                  <a:cubicBezTo>
                    <a:pt x="0" y="12819"/>
                    <a:pt x="1838" y="8381"/>
                    <a:pt x="5110" y="5110"/>
                  </a:cubicBezTo>
                  <a:cubicBezTo>
                    <a:pt x="8381" y="1838"/>
                    <a:pt x="12819" y="0"/>
                    <a:pt x="17446" y="0"/>
                  </a:cubicBezTo>
                  <a:lnTo>
                    <a:pt x="4423999" y="0"/>
                  </a:lnTo>
                  <a:cubicBezTo>
                    <a:pt x="4428625" y="0"/>
                    <a:pt x="4433063" y="1838"/>
                    <a:pt x="4436334" y="5110"/>
                  </a:cubicBezTo>
                  <a:cubicBezTo>
                    <a:pt x="4439606" y="8381"/>
                    <a:pt x="4441444" y="12819"/>
                    <a:pt x="4441444" y="17446"/>
                  </a:cubicBezTo>
                  <a:close/>
                </a:path>
              </a:pathLst>
            </a:custGeom>
            <a:solidFill>
              <a:srgbClr val="000000">
                <a:alpha val="35686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441444" cy="24528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923925"/>
            <a:ext cx="11192137" cy="908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26"/>
              </a:lnSpc>
            </a:pPr>
            <a:r>
              <a:rPr lang="en-US" sz="5304" b="true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Conclusion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524768"/>
            <a:ext cx="11688366" cy="5458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7536" indent="-348768" lvl="1">
              <a:lnSpc>
                <a:spcPts val="4846"/>
              </a:lnSpc>
              <a:buFont typeface="Arial"/>
              <a:buChar char="•"/>
            </a:pP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The system simplifies bank account manageme</a:t>
            </a: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nt</a:t>
            </a:r>
          </a:p>
          <a:p>
            <a:pPr algn="l" marL="697536" indent="-348768" lvl="1">
              <a:lnSpc>
                <a:spcPts val="4846"/>
              </a:lnSpc>
              <a:buFont typeface="Arial"/>
              <a:buChar char="•"/>
            </a:pP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Improves </a:t>
            </a: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efficiency and accuracy</a:t>
            </a:r>
          </a:p>
          <a:p>
            <a:pPr algn="l" marL="697536" indent="-348768" lvl="1">
              <a:lnSpc>
                <a:spcPts val="4846"/>
              </a:lnSpc>
              <a:buFont typeface="Arial"/>
              <a:buChar char="•"/>
            </a:pP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P</a:t>
            </a: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rovides h</a:t>
            </a: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ands-on experience in software development</a:t>
            </a:r>
          </a:p>
          <a:p>
            <a:pPr algn="l">
              <a:lnSpc>
                <a:spcPts val="4846"/>
              </a:lnSpc>
            </a:pPr>
          </a:p>
          <a:p>
            <a:pPr algn="l" marL="697536" indent="-348768" lvl="1">
              <a:lnSpc>
                <a:spcPts val="4846"/>
              </a:lnSpc>
              <a:buFont typeface="Arial"/>
              <a:buChar char="•"/>
            </a:pP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Can be extended with:</a:t>
            </a:r>
          </a:p>
          <a:p>
            <a:pPr algn="l" marL="1395071" indent="-465024" lvl="2">
              <a:lnSpc>
                <a:spcPts val="4846"/>
              </a:lnSpc>
              <a:buFont typeface="Arial"/>
              <a:buChar char="⚬"/>
            </a:pP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Mob</a:t>
            </a: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ile banking</a:t>
            </a:r>
          </a:p>
          <a:p>
            <a:pPr algn="l" marL="1395071" indent="-465024" lvl="2">
              <a:lnSpc>
                <a:spcPts val="4846"/>
              </a:lnSpc>
              <a:buFont typeface="Arial"/>
              <a:buChar char="⚬"/>
            </a:pP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Advanced security</a:t>
            </a:r>
          </a:p>
          <a:p>
            <a:pPr algn="l" marL="1395071" indent="-465024" lvl="2">
              <a:lnSpc>
                <a:spcPts val="4846"/>
              </a:lnSpc>
              <a:buFont typeface="Arial"/>
              <a:buChar char="⚬"/>
            </a:pP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R</a:t>
            </a:r>
            <a:r>
              <a:rPr lang="en-US" sz="3230">
                <a:solidFill>
                  <a:srgbClr val="CDFFD8"/>
                </a:solidFill>
                <a:latin typeface="Canva Sans"/>
                <a:ea typeface="Canva Sans"/>
                <a:cs typeface="Canva Sans"/>
                <a:sym typeface="Canva Sans"/>
              </a:rPr>
              <a:t>eporting features</a:t>
            </a:r>
          </a:p>
          <a:p>
            <a:pPr algn="l">
              <a:lnSpc>
                <a:spcPts val="4846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166" r="0" b="-8316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015587" y="4274503"/>
            <a:ext cx="10256826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b="true" sz="9200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DAHADZgSYCM</dc:identifier>
  <dcterms:modified xsi:type="dcterms:W3CDTF">2011-08-01T06:04:30Z</dcterms:modified>
  <cp:revision>1</cp:revision>
  <dc:title>Proposal Presentation</dc:title>
</cp:coreProperties>
</file>